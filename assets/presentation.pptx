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8" r:id="rId2"/>
    <p:sldId id="256" r:id="rId3"/>
    <p:sldId id="257" r:id="rId4"/>
    <p:sldId id="269" r:id="rId5"/>
    <p:sldId id="273" r:id="rId6"/>
    <p:sldId id="274" r:id="rId7"/>
    <p:sldId id="281" r:id="rId8"/>
    <p:sldId id="278" r:id="rId9"/>
    <p:sldId id="277" r:id="rId10"/>
    <p:sldId id="283" r:id="rId11"/>
    <p:sldId id="287" r:id="rId12"/>
    <p:sldId id="289" r:id="rId13"/>
    <p:sldId id="288" r:id="rId14"/>
    <p:sldId id="275" r:id="rId15"/>
    <p:sldId id="286" r:id="rId16"/>
    <p:sldId id="285" r:id="rId17"/>
    <p:sldId id="279" r:id="rId18"/>
    <p:sldId id="270" r:id="rId19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33" autoAdjust="0"/>
  </p:normalViewPr>
  <p:slideViewPr>
    <p:cSldViewPr snapToGrid="0" snapToObjects="1">
      <p:cViewPr varScale="1">
        <p:scale>
          <a:sx n="77" d="100"/>
          <a:sy n="77" d="100"/>
        </p:scale>
        <p:origin x="10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99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C64337-4D6F-B449-BF29-B60D6D5FA6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23D48-4EDC-7016-73E2-5CBD60B1F6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AA25C46-022F-4001-8419-8ED874343A44}" type="datetimeFigureOut">
              <a:rPr lang="en-CA" smtClean="0"/>
              <a:t>2026-05-21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A4CB2-F7B9-FB0E-FBAD-28C7ADAF92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E1AEF-A3F9-C9C2-A871-CE411567C6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4F5DF34-BEB9-499D-9A95-91CB9E7392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1391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B3223E7D-A42C-4DC7-AACE-65EDB91915A6}" type="datetimeFigureOut">
              <a:rPr lang="en-CA" smtClean="0"/>
              <a:t>2026-05-21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3"/>
            <a:ext cx="5681980" cy="3696713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8903771-1C21-4762-A26D-AD891561B3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1690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866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264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9934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906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3421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040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963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335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131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2098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303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537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185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4870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2669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9411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6369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03771-1C21-4762-A26D-AD891561B33E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8443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0D84-9CC6-4466-BF92-3A09D059855E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8E3BE-947F-467C-86F3-28A59084276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E8C8-5C2C-49AB-A871-6C04BDD49264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7F44C-38C2-43C2-992A-48ADACACFDE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447B-195F-42CC-A7D9-53BEDAB141E0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10E4-4921-404F-A877-9E79D17D77BB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1311-A8BE-4EA4-9E8A-2BEA6330071C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DE98A-0D93-4A51-9BF4-5E11680B8F8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B95B-7246-4869-867C-9EF5CF9F6B4F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9967-C7A7-485A-B282-A4E084FB496A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1AD-4879-43DB-B1EE-88A0F7561F13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8196-63ED-4E20-B56A-1A49F9BCC0A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555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hyperlink" Target="http://localhost:8501/" TargetMode="External"/><Relationship Id="rId4" Type="http://schemas.openxmlformats.org/officeDocument/2006/relationships/hyperlink" Target="http://localhost:8000/doc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www.sciencedirect.com/science/article/abs/pii/S037877881200151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hdirezvandehy.github.io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github.com/MehdiRezvandehy/end-to-end-ml-app-stack-with-mlflow-fastapi-streamlit/tree/main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555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E0A82-2FDA-811E-6000-AF921A6A7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1" y="1143001"/>
            <a:ext cx="8001000" cy="1847850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ML Application Stack with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CA" sz="3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181CA-B28D-5B8A-1EA4-746BC365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882" y="4271816"/>
            <a:ext cx="6808971" cy="86062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2500" dirty="0">
                <a:solidFill>
                  <a:srgbClr val="FFFFFF"/>
                </a:solidFill>
              </a:rPr>
              <a:t>Mehdi Rezvandehy</a:t>
            </a:r>
          </a:p>
          <a:p>
            <a:pPr algn="l">
              <a:lnSpc>
                <a:spcPct val="90000"/>
              </a:lnSpc>
            </a:pPr>
            <a:r>
              <a:rPr lang="en-CA" sz="2500" dirty="0">
                <a:solidFill>
                  <a:srgbClr val="FFFFFF"/>
                </a:solidFill>
              </a:rPr>
              <a:t>Principal </a:t>
            </a:r>
            <a:r>
              <a:rPr lang="en-CA" sz="2500">
                <a:solidFill>
                  <a:srgbClr val="FFFFFF"/>
                </a:solidFill>
              </a:rPr>
              <a:t>Data Scientist</a:t>
            </a:r>
            <a:endParaRPr lang="en-CA" sz="2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60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End-to-End ML System (Local to Enterprise)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D0E28-0299-E253-49ED-75298A178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2" y="4018955"/>
            <a:ext cx="4385674" cy="247769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A6FCD97-73D4-64D2-AD6D-629224C683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" t="12000" r="1753" b="1459"/>
          <a:stretch>
            <a:fillRect/>
          </a:stretch>
        </p:blipFill>
        <p:spPr bwMode="auto">
          <a:xfrm>
            <a:off x="5135101" y="2372321"/>
            <a:ext cx="3715756" cy="405229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3ADAD068-FA12-86B4-957C-0EF064357F8C}"/>
              </a:ext>
            </a:extLst>
          </p:cNvPr>
          <p:cNvSpPr/>
          <p:nvPr/>
        </p:nvSpPr>
        <p:spPr>
          <a:xfrm>
            <a:off x="4630649" y="4467226"/>
            <a:ext cx="468988" cy="13335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9D46E-B542-922C-B648-278D73A29FCC}"/>
              </a:ext>
            </a:extLst>
          </p:cNvPr>
          <p:cNvSpPr txBox="1"/>
          <p:nvPr/>
        </p:nvSpPr>
        <p:spPr>
          <a:xfrm>
            <a:off x="293143" y="1927051"/>
            <a:ext cx="4278855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b="1" dirty="0"/>
              <a:t>Simulate a real-world, end-to-end machine learning application</a:t>
            </a:r>
            <a:r>
              <a:rPr lang="en-US" dirty="0"/>
              <a:t> in a local development environment by automating deployment with </a:t>
            </a:r>
            <a:r>
              <a:rPr lang="en-US" b="1" dirty="0"/>
              <a:t>Docker Compose</a:t>
            </a:r>
            <a:r>
              <a:rPr lang="en-US" dirty="0"/>
              <a:t> and </a:t>
            </a:r>
            <a:r>
              <a:rPr lang="en-US" b="1" dirty="0"/>
              <a:t>Kubernetes</a:t>
            </a:r>
            <a:r>
              <a:rPr lang="en-US" dirty="0"/>
              <a:t>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9498D4-8A01-DBBE-F526-71E71009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7257" y="642461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751" y="186569"/>
            <a:ext cx="5605629" cy="994172"/>
          </a:xfrm>
        </p:spPr>
        <p:txBody>
          <a:bodyPr>
            <a:norm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114482"/>
            <a:ext cx="5177004" cy="378822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End-to-end ML systems require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multiple components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(training, API, UI, experiment tracking).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 inconsistencies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make setups unreliable (“works on my machine”)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Workflows are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fragmented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causing: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Poor reproducibility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Difficult collaboration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Slow transition to production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Managing multiple services manually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complex, time consuming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error-prone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➡️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Gap: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Need to run a complete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end-to-end ML stack locally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reflects production.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Graphic 23" descr="Server">
            <a:extLst>
              <a:ext uri="{FF2B5EF4-FFF2-40B4-BE49-F238E27FC236}">
                <a16:creationId xmlns:a16="http://schemas.microsoft.com/office/drawing/2014/main" id="{F5C335D7-0ADF-6833-A0C7-1CB3F1DF8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ECA4-F242-F39D-BA23-F8350CE8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BAEB9-BB21-4753-A801-150E27A4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61A8BFC-7DC0-370D-9E2A-055F38764084}"/>
              </a:ext>
            </a:extLst>
          </p:cNvPr>
          <p:cNvSpPr/>
          <p:nvPr/>
        </p:nvSpPr>
        <p:spPr>
          <a:xfrm>
            <a:off x="291348" y="4756031"/>
            <a:ext cx="6615851" cy="1450431"/>
          </a:xfrm>
          <a:prstGeom prst="rect">
            <a:avLst/>
          </a:prstGeom>
          <a:solidFill>
            <a:schemeClr val="tx2">
              <a:lumMod val="20000"/>
              <a:lumOff val="80000"/>
              <a:alpha val="1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FB66F-A5F1-FCF2-50D0-F20EEDCA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894"/>
            <a:ext cx="7189434" cy="994172"/>
          </a:xfrm>
        </p:spPr>
        <p:txBody>
          <a:bodyPr>
            <a:norm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Workflow Steps</a:t>
            </a:r>
            <a:endParaRPr lang="en-C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9B1A196-693A-0082-2387-FCB0AE649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223" y="1933774"/>
            <a:ext cx="5679857" cy="17353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 and track models via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MLflow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3"/>
              </a:rPr>
              <a:t>http://localhost:5555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Serve models using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4"/>
              </a:rPr>
              <a:t>http://localhost:8000/docs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Visualize predictions in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5"/>
              </a:rPr>
              <a:t>http://localhost:8501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↔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integration for real-time inference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Graphic 13" descr="Train">
            <a:extLst>
              <a:ext uri="{FF2B5EF4-FFF2-40B4-BE49-F238E27FC236}">
                <a16:creationId xmlns:a16="http://schemas.microsoft.com/office/drawing/2014/main" id="{50D5B93F-1D61-F328-C789-4CB183107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B09748-784B-559D-7D9C-EFB2B05015E8}"/>
              </a:ext>
            </a:extLst>
          </p:cNvPr>
          <p:cNvSpPr txBox="1"/>
          <p:nvPr/>
        </p:nvSpPr>
        <p:spPr>
          <a:xfrm>
            <a:off x="445322" y="4894848"/>
            <a:ext cx="6269803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locally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set of 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containerized services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validate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Kubernetes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scale seamlessly to enterprise production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Align development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production architecture from day one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minimizing rework later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57B9D49-C27B-1227-91B7-79F9A5E4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fld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62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BC55-CA77-D6A7-3149-446B9663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A293D-CA7A-83C8-CBA6-0792F80A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A83167-3571-ACFF-D5D0-8623DC980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2"/>
          <a:stretch>
            <a:fillRect/>
          </a:stretch>
        </p:blipFill>
        <p:spPr bwMode="auto">
          <a:xfrm>
            <a:off x="461256" y="3664109"/>
            <a:ext cx="8285073" cy="27843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C7E6701-6082-6783-834C-0FECA0F9D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824" y="1454925"/>
            <a:ext cx="82415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Lightweight containers package code + dependencies for consistent runs across dev, test, and production.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 &amp; Portability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“Build once, run anywhere” (local, cloud, or cluster).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Management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Locks exact versions; avoids environment issues.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&amp; Efficiency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Works with orchestration (e.g., Kubernetes); lighter than VMs.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B2A01-6A10-0BFF-06F5-600A14D7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2564-940F-453F-E352-6CE822C0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5119-C7F7-EACD-2E5E-584F2774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AE1F25-6C56-4A94-97B2-25053293C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4" y="1042560"/>
            <a:ext cx="824150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</a:t>
            </a:r>
            <a:r>
              <a:rPr lang="en-CA" sz="1600" b="1" dirty="0"/>
              <a:t>Compose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lang="en-US" altLang="en-US" sz="1500" dirty="0">
                <a:latin typeface="Arial" panose="020B0604020202020204" pitchFamily="34" charset="0"/>
              </a:rPr>
              <a:t>a </a:t>
            </a:r>
            <a:r>
              <a:rPr lang="en-US" sz="1500" dirty="0">
                <a:latin typeface="Arial" panose="020B0604020202020204" pitchFamily="34" charset="0"/>
              </a:rPr>
              <a:t>tool for defining and running multiple </a:t>
            </a:r>
            <a:r>
              <a:rPr lang="en-CA" sz="1500" dirty="0">
                <a:latin typeface="Arial" panose="020B0604020202020204" pitchFamily="34" charset="0"/>
              </a:rPr>
              <a:t>applications </a:t>
            </a:r>
            <a:r>
              <a:rPr lang="en-US" sz="1500" dirty="0">
                <a:latin typeface="Arial" panose="020B0604020202020204" pitchFamily="34" charset="0"/>
              </a:rPr>
              <a:t>together while </a:t>
            </a:r>
            <a:r>
              <a:rPr lang="en-CA" sz="1500" dirty="0">
                <a:latin typeface="Arial" panose="020B0604020202020204" pitchFamily="34" charset="0"/>
              </a:rPr>
              <a:t>Docker Container runs a single application</a:t>
            </a:r>
            <a:r>
              <a:rPr lang="en-US" sz="1500" dirty="0"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Arial" panose="020B0604020202020204" pitchFamily="34" charset="0"/>
              </a:rPr>
              <a:t>Use a </a:t>
            </a:r>
            <a:r>
              <a:rPr lang="en-US" sz="1500" i="1" dirty="0">
                <a:latin typeface="Arial" panose="020B0604020202020204" pitchFamily="34" charset="0"/>
              </a:rPr>
              <a:t>docker-</a:t>
            </a:r>
            <a:r>
              <a:rPr lang="en-US" sz="1500" i="1" dirty="0" err="1">
                <a:latin typeface="Arial" panose="020B0604020202020204" pitchFamily="34" charset="0"/>
              </a:rPr>
              <a:t>compose.yml</a:t>
            </a:r>
            <a:r>
              <a:rPr lang="en-US" sz="1500" dirty="0">
                <a:latin typeface="Arial" panose="020B0604020202020204" pitchFamily="34" charset="0"/>
              </a:rPr>
              <a:t> file to configure services, networks, and volumes, allowing several containers (for example, backend, frontend, and database) to run as one system.</a:t>
            </a:r>
            <a:endParaRPr lang="en-US" altLang="en-US" sz="1500" dirty="0"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4D61E37-828C-C203-EF23-412480920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6"/>
          <a:stretch>
            <a:fillRect/>
          </a:stretch>
        </p:blipFill>
        <p:spPr bwMode="auto">
          <a:xfrm>
            <a:off x="1321740" y="2476500"/>
            <a:ext cx="6563882" cy="408696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FA5B6-101E-A764-9E3D-2B20BA41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17A7-1F5F-DE71-9244-39AA4509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74F1-06B2-14F7-D0E8-B0A39167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latin typeface="Arial" panose="020B0604020202020204" pitchFamily="34" charset="0"/>
              </a:rPr>
              <a:t>Docker Desktop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B591C-3ECC-FA24-C217-971BA7FAE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4931" y="3264305"/>
            <a:ext cx="8504637" cy="322857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940AB03-3C5D-9914-944E-AF5611F34F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825" y="1080698"/>
            <a:ext cx="83248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User-friendly platform to build, run, and manage containers locally, with optional Kubernetes support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Graphical interface for managing containers and images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Built-in Docker Engine for container execution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Streamlined tools for building, testing, and deploying applications (including ML models) consistently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C5E8D-C3EC-D0FA-D40B-12B3B859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3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F1C0-DDFB-A381-A1FA-32C18CFF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4D3E4-43A9-0124-3BBE-0BB9959E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Model Development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DA58CE-4AD2-FF4E-C005-E2F609D11B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411" y="1601003"/>
            <a:ext cx="348149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Energy Efficiency 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UCI repository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768 simulated building samples.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8 inputs (e.g., Wall Area, Height, Glazing, Orientation).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Heating Load (building energy demand).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Binary classification on Heating Load.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Use Case</a:t>
            </a:r>
            <a:r>
              <a:rPr lang="en-US" altLang="en-US" sz="1400" dirty="0">
                <a:latin typeface="Arial" panose="020B0604020202020204" pitchFamily="34" charset="0"/>
              </a:rPr>
              <a:t> → Predict building energy efficiency for better design decisions.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Tsanas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 &amp;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Xifara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 (2012),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Energy and Buildings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9B8B051-D3B9-9EAF-07C2-205E21BA4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" r="2231" b="3278"/>
          <a:stretch>
            <a:fillRect/>
          </a:stretch>
        </p:blipFill>
        <p:spPr bwMode="auto">
          <a:xfrm>
            <a:off x="4035936" y="1466850"/>
            <a:ext cx="4927089" cy="423862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A08A6-46E2-9AD5-ABC7-5E00A79F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1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B001-110F-7E55-36EA-7987CD06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96EB-6D20-8E53-1993-92D88765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11661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/>
              <a:t>Packaged 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8C166B2-99A5-4E23-D4EF-115A3D468F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4" y="1004431"/>
            <a:ext cx="824150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open-source platform for tracking, managing, and deploying ML experiments and models.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Logs metrics, hyperparameters, artifacts, and performance results during training.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Docker Compose ensures reproducible setup with consistent versions and dependencies.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3C474ED5-CE4A-1D52-5254-07B3F7299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359" y="2925058"/>
            <a:ext cx="6962638" cy="362637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57D7B-AD19-F5FD-B15C-E80C9437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3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F80A-8C0E-06B0-C8B6-63864987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FD51-E52E-41D8-D195-7D5830DB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8" y="124827"/>
            <a:ext cx="7421963" cy="600812"/>
          </a:xfrm>
        </p:spPr>
        <p:txBody>
          <a:bodyPr>
            <a:noAutofit/>
          </a:bodyPr>
          <a:lstStyle/>
          <a:p>
            <a:r>
              <a:rPr lang="en-CA" sz="2800" b="1" dirty="0">
                <a:latin typeface="Arial" panose="020B0604020202020204" pitchFamily="34" charset="0"/>
                <a:cs typeface="Arial" panose="020B0604020202020204" pitchFamily="34" charset="0"/>
              </a:rPr>
              <a:t>Packaged 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CA" sz="2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C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8ED20-2CFD-E6E5-058E-8FF3470F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72" t="25545" r="27846" b="58118"/>
          <a:stretch>
            <a:fillRect/>
          </a:stretch>
        </p:blipFill>
        <p:spPr>
          <a:xfrm>
            <a:off x="2681945" y="2970268"/>
            <a:ext cx="2770458" cy="50452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73BFE82C-F04D-7CD8-C1DD-0779A171C7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449" y="986183"/>
            <a:ext cx="8395101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layer for input &amp; visualization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for model inference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prediction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API for multi-user inference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Compose: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both services with port mapping for communication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5F342D-1AE5-43FB-EF57-D090B6C85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021" y="3935357"/>
            <a:ext cx="5774691" cy="2922643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0BE5F1FB-236F-1568-E161-54020C8B9373}"/>
              </a:ext>
            </a:extLst>
          </p:cNvPr>
          <p:cNvSpPr/>
          <p:nvPr/>
        </p:nvSpPr>
        <p:spPr>
          <a:xfrm>
            <a:off x="2681945" y="3532855"/>
            <a:ext cx="609600" cy="40250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A372A6-08EC-4DE3-AB39-8334C5B0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7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72D8-BECA-4608-DDED-546E983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C8DD-63EA-52A2-7127-047D36FB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80239"/>
            <a:ext cx="8829675" cy="60081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From Docker Compose to Production (Kubernetes)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BCBC3-A211-40C6-10FD-E30BAD1BC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325" y="924655"/>
            <a:ext cx="8241505" cy="120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Docker Compose is ideal for local development but not for large-scale systems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Production requires </a:t>
            </a:r>
            <a:r>
              <a:rPr lang="en-US" altLang="en-US" sz="1600" b="1" dirty="0">
                <a:latin typeface="Arial" panose="020B0604020202020204" pitchFamily="34" charset="0"/>
              </a:rPr>
              <a:t>orchestration</a:t>
            </a:r>
            <a:r>
              <a:rPr lang="en-US" altLang="en-US" sz="1600" dirty="0">
                <a:latin typeface="Arial" panose="020B0604020202020204" pitchFamily="34" charset="0"/>
              </a:rPr>
              <a:t> to manage many containers efficiently </a:t>
            </a:r>
            <a:r>
              <a:rPr lang="en-US" sz="1600" dirty="0">
                <a:latin typeface="Arial" panose="020B0604020202020204" pitchFamily="34" charset="0"/>
              </a:rPr>
              <a:t>(e.g., scaling containers, load balancing, </a:t>
            </a:r>
            <a:r>
              <a:rPr lang="en-CA" sz="1600" dirty="0">
                <a:latin typeface="Arial" panose="020B0604020202020204" pitchFamily="34" charset="0"/>
              </a:rPr>
              <a:t>restarting failed containers</a:t>
            </a:r>
            <a:r>
              <a:rPr lang="en-US" sz="1600" dirty="0">
                <a:latin typeface="Arial" panose="020B0604020202020204" pitchFamily="34" charset="0"/>
              </a:rPr>
              <a:t>, service discovery …)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Kubernetes</a:t>
            </a:r>
            <a:r>
              <a:rPr lang="en-US" altLang="en-US" sz="1600" dirty="0">
                <a:latin typeface="Arial" panose="020B0604020202020204" pitchFamily="34" charset="0"/>
              </a:rPr>
              <a:t> is the industry standard for scalable, flexible container orchestration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42C7558C-81F0-F9EA-F2B4-A3AC2CBE3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1" y="2342207"/>
            <a:ext cx="7219950" cy="16608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865E1873-1BC8-6B8B-6797-923AD2D4C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47" y="4457465"/>
            <a:ext cx="82415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sz="1600" dirty="0">
                <a:latin typeface="Arial" panose="020B0604020202020204" pitchFamily="34" charset="0"/>
              </a:rPr>
              <a:t>To simulate a production-like environment, Kubernetes can be run locally using lightweight tools: </a:t>
            </a:r>
            <a:r>
              <a:rPr lang="en-US" sz="1600" b="1" dirty="0" err="1">
                <a:latin typeface="Arial" panose="020B0604020202020204" pitchFamily="34" charset="0"/>
              </a:rPr>
              <a:t>Minikube</a:t>
            </a:r>
            <a:r>
              <a:rPr lang="en-US" sz="1600" dirty="0">
                <a:latin typeface="Arial" panose="020B0604020202020204" pitchFamily="34" charset="0"/>
              </a:rPr>
              <a:t> is a tool that creates and runs a Kubernetes cluster locally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ABEC0595-8F17-2586-CFD0-35CC43B1B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99" y="5215976"/>
            <a:ext cx="5591175" cy="12120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9B089-51DF-AB79-8755-F35AB4FC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24C7-8D7C-04D0-F188-A2B5F3A9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36EF-4E3E-B731-150D-41DDD6E2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8" y="124827"/>
            <a:ext cx="7421963" cy="600812"/>
          </a:xfrm>
        </p:spPr>
        <p:txBody>
          <a:bodyPr>
            <a:noAutofit/>
          </a:bodyPr>
          <a:lstStyle/>
          <a:p>
            <a:r>
              <a:rPr lang="en-CA" sz="3200" b="1" dirty="0">
                <a:latin typeface="Arial" panose="020B0604020202020204" pitchFamily="34" charset="0"/>
                <a:cs typeface="Arial" panose="020B0604020202020204" pitchFamily="34" charset="0"/>
              </a:rPr>
              <a:t>Full Implementation Details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408722-8611-B570-FCF9-D2310EC93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449" y="975102"/>
            <a:ext cx="8076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Visit </a:t>
            </a:r>
            <a:r>
              <a:rPr lang="en-US" altLang="en-US" sz="1400" dirty="0">
                <a:latin typeface="Arial" panose="020B0604020202020204" pitchFamily="34" charset="0"/>
                <a:hlinkClick r:id="rId3"/>
              </a:rPr>
              <a:t>https://mehdirezvandehy.github.io/index.html</a:t>
            </a:r>
            <a:r>
              <a:rPr lang="en-US" altLang="en-US" sz="1400" dirty="0">
                <a:latin typeface="Arial" panose="020B0604020202020204" pitchFamily="34" charset="0"/>
              </a:rPr>
              <a:t> for complete explanations covering the end-to-end ML workflow, Docker, and </a:t>
            </a:r>
            <a:r>
              <a:rPr lang="en-US" altLang="en-US" sz="1400" dirty="0" err="1">
                <a:latin typeface="Arial" panose="020B0604020202020204" pitchFamily="34" charset="0"/>
              </a:rPr>
              <a:t>MLflow</a:t>
            </a:r>
            <a:r>
              <a:rPr lang="en-US" altLang="en-US" sz="1400" dirty="0">
                <a:latin typeface="Arial" panose="020B0604020202020204" pitchFamily="34" charset="0"/>
              </a:rPr>
              <a:t> setup.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E824B-3591-EE62-2C4F-BF2834658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174" y="1582216"/>
            <a:ext cx="5144761" cy="21389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4B7193-D25C-2155-C949-B4A09963F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849" y="3912763"/>
            <a:ext cx="867430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GitHub repo: </a:t>
            </a:r>
            <a:r>
              <a:rPr lang="en-US" altLang="en-US" sz="1400" dirty="0">
                <a:latin typeface="Arial" panose="020B0604020202020204" pitchFamily="34" charset="0"/>
                <a:hlinkClick r:id="rId5"/>
              </a:rPr>
              <a:t>end-to-end-ml-app-stack-with-</a:t>
            </a:r>
            <a:r>
              <a:rPr lang="en-US" altLang="en-US" sz="1400" dirty="0" err="1">
                <a:latin typeface="Arial" panose="020B0604020202020204" pitchFamily="34" charset="0"/>
                <a:hlinkClick r:id="rId5"/>
              </a:rPr>
              <a:t>mlflow</a:t>
            </a:r>
            <a:r>
              <a:rPr lang="en-US" altLang="en-US" sz="1400" dirty="0">
                <a:latin typeface="Arial" panose="020B0604020202020204" pitchFamily="34" charset="0"/>
                <a:hlinkClick r:id="rId5"/>
              </a:rPr>
              <a:t>-</a:t>
            </a:r>
            <a:r>
              <a:rPr lang="en-US" altLang="en-US" sz="1400" dirty="0" err="1">
                <a:latin typeface="Arial" panose="020B0604020202020204" pitchFamily="34" charset="0"/>
                <a:hlinkClick r:id="rId5"/>
              </a:rPr>
              <a:t>fastapi-streamlit</a:t>
            </a:r>
            <a:r>
              <a:rPr lang="en-US" altLang="en-US" sz="1400" dirty="0">
                <a:latin typeface="Arial" panose="020B0604020202020204" pitchFamily="34" charset="0"/>
              </a:rPr>
              <a:t> to run the ML pipeline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BB31FF-E70E-BB3A-5D42-3C02D0B4DE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1661"/>
          <a:stretch>
            <a:fillRect/>
          </a:stretch>
        </p:blipFill>
        <p:spPr>
          <a:xfrm>
            <a:off x="1234170" y="4395405"/>
            <a:ext cx="6675658" cy="233776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3E50FE-9909-7A5D-7790-C246AAFC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8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8138B-E9E6-5213-00C2-3EFC0087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F24A-761A-51A2-A3B9-77021982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E0670-D482-D586-A549-81CDDAAA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pic>
        <p:nvPicPr>
          <p:cNvPr id="7" name="Graphic 6" descr="Paperclip">
            <a:extLst>
              <a:ext uri="{FF2B5EF4-FFF2-40B4-BE49-F238E27FC236}">
                <a16:creationId xmlns:a16="http://schemas.microsoft.com/office/drawing/2014/main" id="{8221ACB1-98B7-BA47-8CE5-8092FBBC7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6B723-70B9-3036-2366-704EC107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4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13EE-F353-D716-0194-DE68C287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6606-8148-D16E-667F-54248A21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18" y="212448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 err="1"/>
              <a:t>Streamlit</a:t>
            </a:r>
            <a:r>
              <a:rPr lang="en-CA" sz="3600" b="1" dirty="0"/>
              <a:t> </a:t>
            </a:r>
            <a:r>
              <a:rPr lang="en-CA" sz="3600" dirty="0"/>
              <a:t>(frontend )</a:t>
            </a:r>
            <a:r>
              <a:rPr lang="en-CA" sz="3600" b="1" dirty="0"/>
              <a:t>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C73D-BF86-7F25-DF86-5565324B8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785" y="1276302"/>
            <a:ext cx="75247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Python framework for building ML web UIs that quickly creates interactive dashboards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Runs scripts on every user interaction; best suited for prototyping and demos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8F2E0E95-C486-28FD-C0B7-D25ABBFAB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9" y="2734470"/>
            <a:ext cx="7378447" cy="368538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9C16A-6F1F-3273-CF75-6CFAEC4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3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EC73E-7AA9-74D2-0F78-A3A66A0A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A923-1939-BCBE-F22D-30C8387B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4" y="237389"/>
            <a:ext cx="7421963" cy="60081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CA" sz="4000" b="1" dirty="0" err="1"/>
              <a:t>FastAPI</a:t>
            </a:r>
            <a:r>
              <a:rPr lang="en-CA" sz="4000" b="1" dirty="0"/>
              <a:t> </a:t>
            </a:r>
            <a:r>
              <a:rPr lang="en-CA" sz="4000" dirty="0"/>
              <a:t>(backend)</a:t>
            </a:r>
            <a:r>
              <a:rPr lang="en-CA" sz="4000" b="1" dirty="0"/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097CD7-52C0-299F-0976-1EEC8C1F6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774" y="1665387"/>
            <a:ext cx="31623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High-performance Python framework for building APIs and ML inference services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Ideal for production ML systems: scalable, secure, and easy to deploy as microservices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59BB6D34-67F7-1272-7947-23A09E4A9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084" y="1273306"/>
            <a:ext cx="4989963" cy="4584569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52E091-78CB-0847-7BAC-84B7856B6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9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E9EB-0F0C-96F7-B62C-667C9880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E521-EA52-AF0B-E9E6-9B852C07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CA" b="1" dirty="0"/>
              <a:t>Packaged </a:t>
            </a:r>
            <a:r>
              <a:rPr lang="en-CA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38A1E-6DDF-77CD-9CC7-DF337E084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3" y="1035158"/>
            <a:ext cx="8241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Containerize using Docker Compose to ensure consistent team collaboration by standardizing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version, dependencies, and environment.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Need to expose the container’s internal port by mapping it to a host port, since it isn’t directly accessible from the desktop browser.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port mapping,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runs on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http://localhost:5555/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917527B-7A23-8C5B-890D-46BBACE64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544" y="3068934"/>
            <a:ext cx="5978981" cy="3494527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7F24-E0F6-F23E-B75E-2F476B9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09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47A0E-430D-BE56-380E-DEDD215D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363A5-E5C0-3A21-3BA0-4825A523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</a:rPr>
              <a:t>Docker Container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D474ED2-611C-177E-8F54-DBE4148D7F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2"/>
          <a:stretch>
            <a:fillRect/>
          </a:stretch>
        </p:blipFill>
        <p:spPr bwMode="auto">
          <a:xfrm>
            <a:off x="700085" y="3961039"/>
            <a:ext cx="7743825" cy="260242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64BB5C7-9BF9-76EB-3D1F-C728860A97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7209" y="1691761"/>
            <a:ext cx="834866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Lightweight containers package code + dependencies for consistent runs across dev, test, and production.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 &amp; Portability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“Build once, run anywhere” (local, cloud, or cluster).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Management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Locks exact versions; avoids environment issues.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&amp; Efficiency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Works with orchestration (e.g., Kubernetes); lighter than VMs.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Desktop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GUI tool to build, run, and manage containers locally with optional Kubernetes support.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508E9D-95F4-2CCA-9841-F6D0E663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5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894</Words>
  <Application>Microsoft Office PowerPoint</Application>
  <PresentationFormat>On-screen Show (4:3)</PresentationFormat>
  <Paragraphs>145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End-to-End ML Application Stack with MLflow, FastAPI and Streamlit</vt:lpstr>
      <vt:lpstr>End-to-End ML System (Local to Enterprise)</vt:lpstr>
      <vt:lpstr>Problem Statement</vt:lpstr>
      <vt:lpstr>Workflow Steps</vt:lpstr>
      <vt:lpstr>Docker Container</vt:lpstr>
      <vt:lpstr>Docker Compose</vt:lpstr>
      <vt:lpstr>Docker Desktop</vt:lpstr>
      <vt:lpstr>Model Development</vt:lpstr>
      <vt:lpstr>Packaged MLflow</vt:lpstr>
      <vt:lpstr>Packaged FastAPI and Streamlit</vt:lpstr>
      <vt:lpstr>From Docker Compose to Production (Kubernetes)</vt:lpstr>
      <vt:lpstr>Full Implementation Details</vt:lpstr>
      <vt:lpstr>Demo Time</vt:lpstr>
      <vt:lpstr>Appendix</vt:lpstr>
      <vt:lpstr>Streamlit (frontend )  </vt:lpstr>
      <vt:lpstr>FastAPI (backend) </vt:lpstr>
      <vt:lpstr>Packaged MLflow</vt:lpstr>
      <vt:lpstr>Docker Container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Mehdi Rezvandehy</dc:creator>
  <cp:keywords/>
  <dc:description>generated using python-pptx</dc:description>
  <cp:lastModifiedBy>Mehdi Rezvandehy</cp:lastModifiedBy>
  <cp:revision>36</cp:revision>
  <cp:lastPrinted>2026-04-28T00:39:03Z</cp:lastPrinted>
  <dcterms:created xsi:type="dcterms:W3CDTF">2013-01-27T09:14:16Z</dcterms:created>
  <dcterms:modified xsi:type="dcterms:W3CDTF">2026-05-22T03:41:02Z</dcterms:modified>
  <cp:category/>
</cp:coreProperties>
</file>